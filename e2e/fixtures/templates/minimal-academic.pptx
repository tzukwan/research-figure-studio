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EC2A84FA-F6B2-4908-8E52-49B3607A267A}"/>
              </a:ext>
            </a:extLst>
          </p:cNvPr>
          <p:cNvSpPr txBox="1"/>
          <p:nvPr/>
        </p:nvSpPr>
        <p:spPr>
          <a:xfrm>
            <a:off x="914400" y="1828800"/>
            <a:ext cx="9906000" cy="1371600"/>
          </a:xfrm>
        </p:spPr>
        <p:txBody>
          <a:bodyPr wrap="square" rtlCol="0"/>
          <a:lstStyle/>
          <a:p>
            <a:r>
              <a:rPr sz="3600" b="1"/>
              <a:t>Minimal Academic</a:t>
            </a:r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B5390B5F-C3C4-4344-BE47-067B51F7C0BE}"/>
              </a:ext>
            </a:extLst>
          </p:cNvPr>
          <p:cNvSpPr txBox="1"/>
          <p:nvPr/>
        </p:nvSpPr>
        <p:spPr>
          <a:xfrm>
            <a:off x="914400" y="3200400"/>
            <a:ext cx="9906000" cy="914400"/>
          </a:xfrm>
        </p:spPr>
        <p:txBody>
          <a:bodyPr wrap="square" rtlCol="0"/>
          <a:lstStyle/>
          <a:p>
            <a:r>
              <a:rPr sz="1800"/>
              <a:t>A thesis-defense style owned fixture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16597EA-2206-4504-8F2E-32DB2AEEF93F}"/>
              </a:ext>
            </a:extLst>
          </p:cNvPr>
          <p:cNvSpPr txBox="1"/>
          <p:nvPr/>
        </p:nvSpPr>
        <p:spPr>
          <a:xfrm>
            <a:off x="914400" y="457200"/>
            <a:ext cx="9906000" cy="914400"/>
          </a:xfrm>
        </p:spPr>
        <p:txBody>
          <a:bodyPr wrap="square" rtlCol="0"/>
          <a:lstStyle/>
          <a:p>
            <a:r>
              <a:rPr sz="2400" b="1"/>
              <a:t>Research Method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20234B7-F277-4587-83F4-39897B244CBF}"/>
              </a:ext>
            </a:extLst>
          </p:cNvPr>
          <p:cNvSpPr txBox="1"/>
          <p:nvPr/>
        </p:nvSpPr>
        <p:spPr>
          <a:xfrm>
            <a:off x="914400" y="1371600"/>
            <a:ext cx="9906000" cy="4572000"/>
          </a:xfrm>
        </p:spPr>
        <p:txBody>
          <a:bodyPr wrap="square" rtlCol="0"/>
          <a:lstStyle/>
          <a:p>
            <a:r>
              <a:rPr sz="1400"/>
              <a:t>Mixed-method design with a controlled study.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8694D0C0-FA1A-4ED5-85F3-96670ECCF0DD}"/>
              </a:ext>
            </a:extLst>
          </p:cNvPr>
          <p:cNvSpPr txBox="1"/>
          <p:nvPr/>
        </p:nvSpPr>
        <p:spPr>
          <a:xfrm>
            <a:off x="914400" y="457200"/>
            <a:ext cx="9906000" cy="914400"/>
          </a:xfrm>
        </p:spPr>
        <p:txBody>
          <a:bodyPr wrap="square" rtlCol="0"/>
          <a:lstStyle/>
          <a:p>
            <a:r>
              <a:rPr sz="2400" b="1"/>
              <a:t>Conclusion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3EC568F-09B8-413D-8D66-F8CC863EEC24}"/>
              </a:ext>
            </a:extLst>
          </p:cNvPr>
          <p:cNvSpPr txBox="1"/>
          <p:nvPr/>
        </p:nvSpPr>
        <p:spPr>
          <a:xfrm>
            <a:off x="914400" y="1371600"/>
            <a:ext cx="9906000" cy="4572000"/>
          </a:xfrm>
        </p:spPr>
        <p:txBody>
          <a:bodyPr wrap="square" rtlCol="0"/>
          <a:lstStyle/>
          <a:p>
            <a:r>
              <a:rPr sz="1400"/>
              <a:t>The owned fixture closes the E2E loop.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EC2A84FA-F6B2-4908-8E52-49B3607A267A}"/>
              </a:ext>
            </a:extLst>
          </p:cNvPr>
          <p:cNvSpPr txBox="1"/>
          <p:nvPr/>
        </p:nvSpPr>
        <p:spPr>
          <a:xfrm>
            <a:off x="914400" y="1828800"/>
            <a:ext cx="9906000" cy="1371600"/>
          </a:xfrm>
        </p:spPr>
        <p:txBody>
          <a:bodyPr wrap="square" rtlCol="0"/>
          <a:lstStyle/>
          <a:p>
            <a:r>
              <a:rPr sz="3600" b="1"/>
              <a:t>Minimal Academic</a:t>
            </a:r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B5390B5F-C3C4-4344-BE47-067B51F7C0BE}"/>
              </a:ext>
            </a:extLst>
          </p:cNvPr>
          <p:cNvSpPr txBox="1"/>
          <p:nvPr/>
        </p:nvSpPr>
        <p:spPr>
          <a:xfrm>
            <a:off x="914400" y="3200400"/>
            <a:ext cx="9906000" cy="914400"/>
          </a:xfrm>
        </p:spPr>
        <p:txBody>
          <a:bodyPr wrap="square" rtlCol="0"/>
          <a:lstStyle/>
          <a:p>
            <a:r>
              <a:rPr sz="1800"/>
              <a:t>A thesis-defense style owned fixture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EC2A84FA-F6B2-4908-8E52-49B3607A267A}"/>
              </a:ext>
            </a:extLst>
          </p:cNvPr>
          <p:cNvSpPr txBox="1"/>
          <p:nvPr/>
        </p:nvSpPr>
        <p:spPr>
          <a:xfrm>
            <a:off x="914400" y="1828800"/>
            <a:ext cx="9906000" cy="1371600"/>
          </a:xfrm>
        </p:spPr>
        <p:txBody>
          <a:bodyPr wrap="square" rtlCol="0"/>
          <a:lstStyle/>
          <a:p>
            <a:r>
              <a:rPr sz="3600" b="1"/>
              <a:t>Minimal Academic</a:t>
            </a:r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B5390B5F-C3C4-4344-BE47-067B51F7C0BE}"/>
              </a:ext>
            </a:extLst>
          </p:cNvPr>
          <p:cNvSpPr txBox="1"/>
          <p:nvPr/>
        </p:nvSpPr>
        <p:spPr>
          <a:xfrm>
            <a:off x="914400" y="3200400"/>
            <a:ext cx="9906000" cy="914400"/>
          </a:xfrm>
        </p:spPr>
        <p:txBody>
          <a:bodyPr wrap="square" rtlCol="0"/>
          <a:lstStyle/>
          <a:p>
            <a:r>
              <a:rPr sz="1800"/>
              <a:t>A thesis-defense style owned fixture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