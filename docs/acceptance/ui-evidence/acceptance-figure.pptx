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fs1:{&quot;schemaVersion&quot;:1,&quot;figureRunId&quot;:&quot;fig-mtu9e5ae-gj5283&quot;,&quot;figureFamily&quot;:&quot;unspecified&quot;,&quot;domain&quot;:&quot;biomed&quot;,&quot;thesis&quot;:&quot;E2E: 底物经两步酶促反应生成产物，请画成机制图\n\n&lt;deck outline&gt;\nThe presentation has 1 pages; page 1 is currently shown. Canvas 1280×720px.\n(Page order is the current actual order and may differ from generation time or ear&quot;,&quot;nodes&quot;:[{&quot;id&quot;:&quot;sub&quot;,&quot;title&quot;:&quot;底物&quot;,&quot;type&quot;:&quot;data-source&quot;,&quot;primitiveKind&quot;:&quot;data-source&quot;,&quot;detailDisposition&quot;:&quot;omitted-by-plan&quot;},{&quot;id&quot;:&quot;e1&quot;,&quot;title&quot;:&quot;酶促反应一&quot;,&quot;type&quot;:&quot;mechanism&quot;,&quot;primitiveKind&quot;:&quot;mechanism-module&quot;,&quot;detailDisposition&quot;:&quot;omitted-by-plan&quot;},{&quot;id&quot;:&quot;e2&quot;,&quot;title&quot;:&quot;酶促反应二&quot;,&quot;type&quot;:&quot;mechanism&quot;,&quot;primitiveKind&quot;:&quot;mechanism-module&quot;,&quot;detailDisposition&quot;:&quot;omitted-by-plan&quot;},{&quot;id&quot;:&quot;out&quot;,&quot;title&quot;:&quot;产物&quot;,&quot;type&quot;:&quot;outcome&quot;,&quot;primitiveKind&quot;:&quot;output-node&quot;,&quot;detailDisposition&quot;:&quot;omitted-by-plan&quot;}],&quot;relations&quot;:[{&quot;id&quot;:&quot;r1&quot;,&quot;from&quot;:&quot;sub&quot;,&quot;to&quot;:&quot;e1&quot;,&quot;relation&quot;:&quot;process&quot;,&quot;presentation&quot;:&quot;arrow&quot;,&quot;status&quot;:&quot;rendered&quot;},{&quot;id&quot;:&quot;r2&quot;,&quot;from&quot;:&quot;e1&quot;,&quot;to&quot;:&quot;e2&quot;,&quot;relation&quot;:&quot;process&quot;,&quot;presentation&quot;:&quot;arrow&quot;,&quot;status&quot;:&quot;rendered&quot;},{&quot;id&quot;:&quot;r3&quot;,&quot;from&quot;:&quot;e2&quot;,&quot;to&quot;:&quot;out&quot;,&quot;relation&quot;:&quot;transformation&quot;,&quot;presentation&quot;:&quot;arrow&quot;,&quot;status&quot;:&quot;rendered&quot;}],&quot;typography&quot;:{&quot;fontScale&quot;:1,&quot;measurer&quot;:&quot;calibrated-estimator&quot;}}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2" descr="rfs:v1|role=research-connector|themeFill=none|themeStroke=connector|themeText=none|componentType=research-connector|semanticEdgeId=r1|relationPresentation=arrow|researchMetadataVersion=2|figureRunId=fig-mtu9e5ae-gj5283|figureFamily=unspecified|domain=biomed|relationType=process" title="rfs:v1|role=research-connector|themeFill=none|themeStroke=connector|themeText=none|componentType=research-connector|semanticEdgeId=r1|relationPresentation=arrow|researchMetadataVersion=2|figureRunId=fig-mtu9e5ae-gj5283|figureFamily=unspecified|domain=biomed|relationType=process">
            <a:extLst>
              <a:ext uri="{FF2B5EF4-FFF2-40B4-BE49-F238E27FC236}">
                <a16:creationId xmlns:a16="http://schemas.microsoft.com/office/drawing/2014/main" id="{BA8C2DD8-47A3-49D4-A9AA-BF7E887DE468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105025" y="3429000"/>
            <a:ext cx="2638425" cy="0"/>
          </a:xfrm>
          <a:prstGeom prst="straightConnector1">
            <a:avLst/>
          </a:prstGeom>
          <a:ln w="19050" cap="flat">
            <a:solidFill>
              <a:srgbClr val="687784"/>
            </a:solidFill>
            <a:tailEnd type="triangle" w="med" len="med"/>
          </a:ln>
        </p:spPr>
      </p:cxnSp>
      <p:cxnSp>
        <p:nvCxnSpPr>
          <p:cNvPr id="3" name="Straight Connector 3" descr="rfs:v1|role=research-connector|themeFill=none|themeStroke=connector|themeText=none|componentType=research-connector|semanticEdgeId=r2|relationPresentation=arrow|researchMetadataVersion=2|figureRunId=fig-mtu9e5ae-gj5283|figureFamily=unspecified|domain=biomed|relationType=process" title="rfs:v1|role=research-connector|themeFill=none|themeStroke=connector|themeText=none|componentType=research-connector|semanticEdgeId=r2|relationPresentation=arrow|researchMetadataVersion=2|figureRunId=fig-mtu9e5ae-gj5283|figureFamily=unspecified|domain=biomed|relationType=process">
            <a:extLst>
              <a:ext uri="{FF2B5EF4-FFF2-40B4-BE49-F238E27FC236}">
                <a16:creationId xmlns:a16="http://schemas.microsoft.com/office/drawing/2014/main" id="{2A564359-3BEE-4CF5-A305-4B3FE9A1FAE4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5981700" y="3362325"/>
            <a:ext cx="2295525" cy="66675"/>
          </a:xfrm>
          <a:prstGeom prst="straightConnector1">
            <a:avLst/>
          </a:prstGeom>
          <a:ln w="19050" cap="flat">
            <a:solidFill>
              <a:srgbClr val="687784"/>
            </a:solidFill>
            <a:tailEnd type="triangle" w="med" len="med"/>
          </a:ln>
        </p:spPr>
      </p:cxnSp>
      <p:cxnSp>
        <p:nvCxnSpPr>
          <p:cNvPr id="4" name="Straight Connector 4" descr="rfs:v1|role=research-connector|themeFill=none|themeStroke=connector|themeText=none|componentType=research-connector|semanticEdgeId=r3|relationPresentation=arrow|researchMetadataVersion=2|figureRunId=fig-mtu9e5ae-gj5283|figureFamily=unspecified|domain=biomed|relationType=transformation" title="rfs:v1|role=research-connector|themeFill=none|themeStroke=connector|themeText=none|componentType=research-connector|semanticEdgeId=r3|relationPresentation=arrow|researchMetadataVersion=2|figureRunId=fig-mtu9e5ae-gj5283|figureFamily=unspecified|domain=biomed|relationType=transformation">
            <a:extLst>
              <a:ext uri="{FF2B5EF4-FFF2-40B4-BE49-F238E27FC236}">
                <a16:creationId xmlns:a16="http://schemas.microsoft.com/office/drawing/2014/main" id="{06E7E37A-8A00-46C6-A1D4-0E5A6C729B70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9515475" y="3362325"/>
            <a:ext cx="1028700" cy="66675"/>
          </a:xfrm>
          <a:prstGeom prst="straightConnector1">
            <a:avLst/>
          </a:prstGeom>
          <a:ln w="19050" cap="flat">
            <a:solidFill>
              <a:srgbClr val="687784"/>
            </a:solidFill>
            <a:tailEnd type="triangle" w="med" len="med"/>
          </a:ln>
        </p:spPr>
      </p:cxnSp>
      <p:sp>
        <p:nvSpPr>
          <p:cNvPr id="5" name="Shape 5" descr="rfs:v1|role=data-source|themeFill=surface|themeStroke=secondary|themeText=textPrimary|componentType=research-module|semanticNodeId=sub|researchMetadataVersion=2|figureRunId=fig-mtu9e5ae-gj5283|figureFamily=unspecified|domain=biomed|primitiveKind=data-source" title="rfs:v1|role=data-source|themeFill=surface|themeStroke=secondary|themeText=textPrimary|componentType=research-module|semanticNodeId=sub|researchMetadataVersion=2|figureRunId=fig-mtu9e5ae-gj5283|figureFamily=unspecified|domain=biomed|primitiveKind=data-source">
            <a:extLst>
              <a:ext uri="{FF2B5EF4-FFF2-40B4-BE49-F238E27FC236}">
                <a16:creationId xmlns:a16="http://schemas.microsoft.com/office/drawing/2014/main" id="{FF955A14-805E-41F2-95C8-F96D1A6A5D67}"/>
              </a:ext>
            </a:extLst>
          </p:cNvPr>
          <p:cNvSpPr/>
          <p:nvPr/>
        </p:nvSpPr>
        <p:spPr>
          <a:xfrm>
            <a:off x="1190625" y="3181350"/>
            <a:ext cx="914400" cy="49530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7395B5"/>
            </a:solidFill>
          </a:ln>
        </p:spPr>
        <p:txBody>
          <a:bodyPr wrap="square" rtlCol="0" lIns="95250" tIns="76200" rIns="95250" bIns="76200" anchor="ctr"/>
          <a:lstStyle/>
          <a:p>
            <a:r>
              <a:rPr sz="1300" b="1">
                <a:solidFill>
                  <a:srgbClr val="17212B"/>
                </a:solidFill>
              </a:rPr>
              <a:t>底物</a:t>
            </a:r>
          </a:p>
        </p:txBody>
      </p:sp>
      <p:sp>
        <p:nvSpPr>
          <p:cNvPr id="6" name="Shape 6" descr="rfs:v1|role=mechanism-module|themeFill=surface|themeStroke=accent|themeText=textPrimary|componentType=research-module|semanticNodeId=e1|researchMetadataVersion=2|figureRunId=fig-mtu9e5ae-gj5283|figureFamily=unspecified|domain=biomed|primitiveKind=mechanism-module" title="rfs:v1|role=mechanism-module|themeFill=surface|themeStroke=accent|themeText=textPrimary|componentType=research-module|semanticNodeId=e1|researchMetadataVersion=2|figureRunId=fig-mtu9e5ae-gj5283|figureFamily=unspecified|domain=biomed|primitiveKind=mechanism-module">
            <a:extLst>
              <a:ext uri="{FF2B5EF4-FFF2-40B4-BE49-F238E27FC236}">
                <a16:creationId xmlns:a16="http://schemas.microsoft.com/office/drawing/2014/main" id="{E1500739-66C1-49C4-9E36-A113E831ACAF}"/>
              </a:ext>
            </a:extLst>
          </p:cNvPr>
          <p:cNvSpPr/>
          <p:nvPr/>
        </p:nvSpPr>
        <p:spPr>
          <a:xfrm>
            <a:off x="4743450" y="3124200"/>
            <a:ext cx="123825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D68A45"/>
            </a:solidFill>
          </a:ln>
        </p:spPr>
        <p:txBody>
          <a:bodyPr wrap="square" rtlCol="0" lIns="114300" tIns="95250" rIns="114300" bIns="95250" anchor="ctr"/>
          <a:lstStyle/>
          <a:p>
            <a:r>
              <a:rPr sz="1400" b="1">
                <a:solidFill>
                  <a:srgbClr val="17212B"/>
                </a:solidFill>
              </a:rPr>
              <a:t>酶促反应一</a:t>
            </a:r>
          </a:p>
        </p:txBody>
      </p:sp>
      <p:sp>
        <p:nvSpPr>
          <p:cNvPr id="7" name="Shape 7" descr="rfs:v1|role=mechanism-module|themeFill=surface|themeStroke=accent|themeText=textPrimary|componentType=research-module|semanticNodeId=e2|researchMetadataVersion=2|figureRunId=fig-mtu9e5ae-gj5283|figureFamily=unspecified|domain=biomed|primitiveKind=mechanism-module" title="rfs:v1|role=mechanism-module|themeFill=surface|themeStroke=accent|themeText=textPrimary|componentType=research-module|semanticNodeId=e2|researchMetadataVersion=2|figureRunId=fig-mtu9e5ae-gj5283|figureFamily=unspecified|domain=biomed|primitiveKind=mechanism-module">
            <a:extLst>
              <a:ext uri="{FF2B5EF4-FFF2-40B4-BE49-F238E27FC236}">
                <a16:creationId xmlns:a16="http://schemas.microsoft.com/office/drawing/2014/main" id="{847B6814-E8B6-43FB-A2FD-8E09925226BC}"/>
              </a:ext>
            </a:extLst>
          </p:cNvPr>
          <p:cNvSpPr/>
          <p:nvPr/>
        </p:nvSpPr>
        <p:spPr>
          <a:xfrm>
            <a:off x="8277225" y="3057525"/>
            <a:ext cx="123825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5875">
            <a:solidFill>
              <a:srgbClr val="D68A45"/>
            </a:solidFill>
          </a:ln>
        </p:spPr>
        <p:txBody>
          <a:bodyPr wrap="square" rtlCol="0" lIns="114300" tIns="95250" rIns="114300" bIns="95250" anchor="ctr"/>
          <a:lstStyle/>
          <a:p>
            <a:r>
              <a:rPr sz="1400" b="1">
                <a:solidFill>
                  <a:srgbClr val="17212B"/>
                </a:solidFill>
              </a:rPr>
              <a:t>酶促反应二</a:t>
            </a:r>
          </a:p>
        </p:txBody>
      </p:sp>
      <p:sp>
        <p:nvSpPr>
          <p:cNvPr id="8" name="Shape 8" descr="rfs:v1|role=output-node|themeFill=accent|themeStroke=accent|themeText=textPrimary|componentType=research-module|semanticNodeId=out|researchMetadataVersion=2|figureRunId=fig-mtu9e5ae-gj5283|figureFamily=unspecified|domain=biomed|primitiveKind=output-node" title="rfs:v1|role=output-node|themeFill=accent|themeStroke=accent|themeText=textPrimary|componentType=research-module|semanticNodeId=out|researchMetadataVersion=2|figureRunId=fig-mtu9e5ae-gj5283|figureFamily=unspecified|domain=biomed|primitiveKind=output-node">
            <a:extLst>
              <a:ext uri="{FF2B5EF4-FFF2-40B4-BE49-F238E27FC236}">
                <a16:creationId xmlns:a16="http://schemas.microsoft.com/office/drawing/2014/main" id="{9BD3242A-487D-4BA6-B68A-48B7A5242D78}"/>
              </a:ext>
            </a:extLst>
          </p:cNvPr>
          <p:cNvSpPr/>
          <p:nvPr/>
        </p:nvSpPr>
        <p:spPr>
          <a:xfrm>
            <a:off x="10544175" y="3190875"/>
            <a:ext cx="914400" cy="476250"/>
          </a:xfrm>
          <a:prstGeom prst="roundRect">
            <a:avLst>
              <a:gd name="adj" fmla="val 20000"/>
            </a:avLst>
          </a:prstGeom>
          <a:solidFill>
            <a:srgbClr val="D68A45"/>
          </a:solidFill>
          <a:ln w="15875">
            <a:solidFill>
              <a:srgbClr val="D68A45"/>
            </a:solidFill>
          </a:ln>
        </p:spPr>
        <p:txBody>
          <a:bodyPr wrap="square" rtlCol="0" lIns="95250" tIns="76200" rIns="95250" bIns="76200" anchor="ctr"/>
          <a:lstStyle/>
          <a:p>
            <a:r>
              <a:rPr sz="1300" b="1">
                <a:solidFill>
                  <a:srgbClr val="17212B"/>
                </a:solidFill>
              </a:rPr>
              <a:t>产物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